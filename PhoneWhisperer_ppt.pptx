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B956157-0819-4F26-9D50-34C9F6C6A201}" v="2" dt="2026-05-08T18:30:37.808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09" d="100"/>
          <a:sy n="109" d="100"/>
        </p:scale>
        <p:origin x="706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4246212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AbhiLight07/PhoneWhisperer.git" TargetMode="Externa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youtu.be/8WLLRvkJbv4" TargetMode="Externa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320040" y="182880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PRISM  |  Tech Management, RV COLLEGE OF ENGINEERING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82880" y="694944"/>
            <a:ext cx="5029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CLASH OF THE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645920" y="546354"/>
            <a:ext cx="5029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200" b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CLAWS</a:t>
            </a:r>
            <a:endParaRPr lang="en-US" sz="4200" dirty="0"/>
          </a:p>
        </p:txBody>
      </p:sp>
      <p:sp>
        <p:nvSpPr>
          <p:cNvPr id="7" name="Text 5"/>
          <p:cNvSpPr/>
          <p:nvPr/>
        </p:nvSpPr>
        <p:spPr>
          <a:xfrm>
            <a:off x="182880" y="2656332"/>
            <a:ext cx="5303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C3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PhoneWhisperer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182880" y="3108960"/>
            <a:ext cx="5303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phone learns your life — so you don't have to manage it.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82880" y="4288536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Members: </a:t>
            </a:r>
          </a:p>
          <a:p>
            <a:pPr marL="800100" lvl="1" indent="-342900">
              <a:buFont typeface="+mj-lt"/>
              <a:buAutoNum type="arabicPeriod"/>
            </a:pPr>
            <a:r>
              <a:rPr lang="en-US" b="1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Abhishek Y S</a:t>
            </a:r>
          </a:p>
          <a:p>
            <a:pPr marL="800100" lvl="1" indent="-342900">
              <a:buFont typeface="+mj-lt"/>
              <a:buAutoNum type="arabicPeriod"/>
            </a:pPr>
            <a:r>
              <a:rPr lang="en-US" b="1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Bhuvan S G</a:t>
            </a:r>
          </a:p>
          <a:p>
            <a:pPr marL="800100" lvl="1" indent="-342900">
              <a:buFont typeface="+mj-lt"/>
              <a:buAutoNum type="arabicPeriod"/>
            </a:pPr>
            <a:r>
              <a:rPr lang="en-US" b="1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Shiva</a:t>
            </a:r>
          </a:p>
          <a:p>
            <a:pPr marL="800100" lvl="1" indent="-342900">
              <a:buFont typeface="+mj-lt"/>
              <a:buAutoNum type="arabicPeriod"/>
            </a:pPr>
            <a:r>
              <a:rPr lang="en-US" b="1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Sushmitha M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6675120" y="2011680"/>
            <a:ext cx="22860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On-Device AI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Phone Automation</a:t>
            </a:r>
            <a:endParaRPr lang="en-US" sz="1600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F01EF9D-B786-A444-567E-9D7DEC8FEC6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46320" y="-11430"/>
            <a:ext cx="4206240" cy="5143500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1DE737C9-9159-21CE-0FDC-5711DBFBFCBC}"/>
              </a:ext>
            </a:extLst>
          </p:cNvPr>
          <p:cNvSpPr txBox="1"/>
          <p:nvPr/>
        </p:nvSpPr>
        <p:spPr>
          <a:xfrm>
            <a:off x="182880" y="1583519"/>
            <a:ext cx="722376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000" b="1" dirty="0">
                <a:solidFill>
                  <a:srgbClr val="FF0000"/>
                </a:solidFill>
                <a:latin typeface="Arial Black" panose="020B0A04020102020204" pitchFamily="34" charset="0"/>
              </a:rPr>
              <a:t>R V College Of </a:t>
            </a:r>
            <a:r>
              <a:rPr lang="en-IN" sz="3000" b="1" dirty="0" err="1">
                <a:solidFill>
                  <a:srgbClr val="FF0000"/>
                </a:solidFill>
                <a:latin typeface="Arial Black" panose="020B0A04020102020204" pitchFamily="34" charset="0"/>
              </a:rPr>
              <a:t>Engineering_</a:t>
            </a:r>
            <a:r>
              <a:rPr lang="en-IN" sz="3000" b="1" dirty="0" err="1">
                <a:solidFill>
                  <a:schemeClr val="tx2">
                    <a:lumMod val="50000"/>
                  </a:schemeClr>
                </a:solidFill>
                <a:latin typeface="Arial Black" panose="020B0A04020102020204" pitchFamily="34" charset="0"/>
              </a:rPr>
              <a:t>AlphaX</a:t>
            </a:r>
            <a:endParaRPr lang="en-IN" sz="3000" b="1" dirty="0">
              <a:solidFill>
                <a:schemeClr val="tx2">
                  <a:lumMod val="50000"/>
                </a:schemeClr>
              </a:solidFill>
              <a:latin typeface="Arial Black" panose="020B0A04020102020204" pitchFamily="34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164592"/>
            <a:ext cx="502920" cy="201168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320040" y="164592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Idea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20040" y="457200"/>
            <a:ext cx="8503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C3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20040" y="932688"/>
            <a:ext cx="2286000" cy="36576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228600" y="1303020"/>
            <a:ext cx="5120640" cy="347472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pPr marL="342900" indent="-342900">
              <a:buSzPct val="100000"/>
              <a:buFont typeface="Arial"/>
              <a:buChar char="•"/>
            </a:pPr>
            <a:r>
              <a:rPr lang="en-US" sz="1500" b="1" dirty="0">
                <a:solidFill>
                  <a:srgbClr val="2D3748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Theme: </a:t>
            </a:r>
            <a:r>
              <a:rPr lang="en-US" sz="1500" dirty="0">
                <a:solidFill>
                  <a:srgbClr val="212121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Daily Utility in Mobile App</a:t>
            </a:r>
            <a:endParaRPr lang="en-US" sz="1500" dirty="0">
              <a:latin typeface="Times New Roman" panose="02020603050405020304" pitchFamily="18" charset="0"/>
              <a:ea typeface="Calibri" panose="020F0502020204030204"/>
              <a:cs typeface="Times New Roman" panose="02020603050405020304" pitchFamily="18" charset="0"/>
            </a:endParaRPr>
          </a:p>
          <a:p>
            <a:pPr marL="342900" indent="-342900">
              <a:buSzPct val="100000"/>
              <a:buChar char="•"/>
            </a:pPr>
            <a:r>
              <a:rPr lang="en-US" sz="1500" b="1" dirty="0">
                <a:solidFill>
                  <a:srgbClr val="2D3748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Problem: </a:t>
            </a:r>
            <a:r>
              <a:rPr lang="en-US" sz="1500" dirty="0">
                <a:solidFill>
                  <a:srgbClr val="2D3748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You manually manage phone settings (DND, volume, focus modes) dozens of times a day — it's repetitive and mindless.</a:t>
            </a:r>
            <a:endParaRPr lang="en-US" sz="1500" dirty="0">
              <a:latin typeface="Times New Roman" panose="02020603050405020304" pitchFamily="18" charset="0"/>
              <a:ea typeface="Calibri"/>
              <a:cs typeface="Times New Roman" panose="02020603050405020304" pitchFamily="18" charset="0"/>
            </a:endParaRPr>
          </a:p>
          <a:p>
            <a:pPr marL="342900" indent="-342900">
              <a:buSzPct val="100000"/>
              <a:buChar char="•"/>
            </a:pPr>
            <a:r>
              <a:rPr lang="en-US" sz="1500" b="1" dirty="0">
                <a:solidFill>
                  <a:srgbClr val="2D3748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Who faces it: </a:t>
            </a:r>
            <a:r>
              <a:rPr lang="en-US" sz="1500" dirty="0">
                <a:solidFill>
                  <a:srgbClr val="2D3748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Every smartphone user — students, professionals, parents — anyone who switches contexts throughout their day.</a:t>
            </a:r>
            <a:endParaRPr lang="en-US" sz="1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SzPct val="100000"/>
              <a:buChar char="•"/>
            </a:pPr>
            <a:r>
              <a:rPr lang="en-US" sz="1500" b="1" dirty="0">
                <a:solidFill>
                  <a:srgbClr val="2D3748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Why important: </a:t>
            </a:r>
            <a:r>
              <a:rPr lang="en-US" sz="1500" dirty="0">
                <a:solidFill>
                  <a:srgbClr val="2D3748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We lose focus, get interrupted at wrong moments, and waste mental energy on micro-decisions our phone could handle automatically.</a:t>
            </a:r>
            <a:endParaRPr lang="en-US" sz="1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2D3748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Existing automation (IFTTT, Focus Modes) requires YOU to set up rules manually — defeating the purpose.</a:t>
            </a:r>
            <a:endParaRPr lang="en-US" sz="1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Shape 5"/>
          <p:cNvSpPr/>
          <p:nvPr/>
        </p:nvSpPr>
        <p:spPr>
          <a:xfrm>
            <a:off x="5486400" y="640080"/>
            <a:ext cx="3200400" cy="3566160"/>
          </a:xfrm>
          <a:prstGeom prst="rect">
            <a:avLst/>
          </a:prstGeom>
          <a:solidFill>
            <a:srgbClr val="F5F7FA"/>
          </a:solidFill>
          <a:ln w="12700">
            <a:solidFill>
              <a:srgbClr val="D1D9E6"/>
            </a:solidFill>
            <a:prstDash val="solid"/>
          </a:ln>
        </p:spPr>
        <p:txBody>
          <a:bodyPr/>
          <a:lstStyle/>
          <a:p>
            <a:endParaRPr lang="en-IN" sz="1300" dirty="0"/>
          </a:p>
        </p:txBody>
      </p:sp>
      <p:sp>
        <p:nvSpPr>
          <p:cNvPr id="8" name="Text 6"/>
          <p:cNvSpPr/>
          <p:nvPr/>
        </p:nvSpPr>
        <p:spPr>
          <a:xfrm>
            <a:off x="5806440" y="1188720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C3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👤  Target Persona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852160" y="1600200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Rahul, 22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852160" y="1874520"/>
            <a:ext cx="2834640" cy="50292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3748"/>
                </a:solidFill>
                <a:latin typeface="Calibri"/>
                <a:ea typeface="Calibri"/>
                <a:cs typeface="Calibri"/>
              </a:rPr>
              <a:t>Engineering student — silences phone for lectures but forgets to unsilence</a:t>
            </a:r>
            <a:endParaRPr lang="en-US" sz="1100" dirty="0">
              <a:latin typeface="Calibri"/>
              <a:ea typeface="Calibri"/>
              <a:cs typeface="Calibri"/>
            </a:endParaRPr>
          </a:p>
        </p:txBody>
      </p:sp>
      <p:sp>
        <p:nvSpPr>
          <p:cNvPr id="11" name="Text 9"/>
          <p:cNvSpPr/>
          <p:nvPr/>
        </p:nvSpPr>
        <p:spPr>
          <a:xfrm>
            <a:off x="5852160" y="2514600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Priya, 31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852160" y="2788920"/>
            <a:ext cx="2834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Manager — needs phone silent in meetings, loud at home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852160" y="3429000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Arjun, 45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5852160" y="3703320"/>
            <a:ext cx="2834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Dad — wants DND at bedtime, but alarm still rings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164592"/>
            <a:ext cx="502920" cy="201168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320040" y="164592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Idea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20040" y="457200"/>
            <a:ext cx="8503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C3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Solution &amp; Gaps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20040" y="932688"/>
            <a:ext cx="2286000" cy="36576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Shape 4"/>
          <p:cNvSpPr/>
          <p:nvPr/>
        </p:nvSpPr>
        <p:spPr>
          <a:xfrm>
            <a:off x="320040" y="1097280"/>
            <a:ext cx="2743200" cy="2103120"/>
          </a:xfrm>
          <a:prstGeom prst="rect">
            <a:avLst/>
          </a:prstGeom>
          <a:solidFill>
            <a:srgbClr val="FFFFFF"/>
          </a:solidFill>
          <a:ln w="15240">
            <a:solidFill>
              <a:srgbClr val="D1D9E6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7" name="Shape 5"/>
          <p:cNvSpPr/>
          <p:nvPr/>
        </p:nvSpPr>
        <p:spPr>
          <a:xfrm>
            <a:off x="320040" y="1097280"/>
            <a:ext cx="64008" cy="210312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457200" y="1307592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2809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IFTTT / Tasker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 7"/>
          <p:cNvSpPr/>
          <p:nvPr/>
        </p:nvSpPr>
        <p:spPr>
          <a:xfrm>
            <a:off x="480060" y="1627632"/>
            <a:ext cx="2514600" cy="164592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2D3748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Rule-based triggers (if location = work → silent). Requires manual setup of every rule. No learning, no adaptation to behavior change.</a:t>
            </a:r>
            <a:endParaRPr lang="en-US" sz="1200" dirty="0">
              <a:latin typeface="Times New Roman" panose="02020603050405020304" pitchFamily="18" charset="0"/>
              <a:ea typeface="Calibri"/>
              <a:cs typeface="Times New Roman" panose="02020603050405020304" pitchFamily="18" charset="0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3264408" y="1117854"/>
            <a:ext cx="2743200" cy="2103120"/>
          </a:xfrm>
          <a:prstGeom prst="rect">
            <a:avLst/>
          </a:prstGeom>
          <a:solidFill>
            <a:srgbClr val="FFFFFF"/>
          </a:solidFill>
          <a:ln w="15240">
            <a:solidFill>
              <a:srgbClr val="D1D9E6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3264408" y="1097280"/>
            <a:ext cx="64008" cy="210312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3401568" y="1284732"/>
            <a:ext cx="2560320" cy="27432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28090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Android Focus Mode</a:t>
            </a:r>
            <a:endParaRPr lang="en-US" sz="1100" dirty="0">
              <a:latin typeface="Times New Roman" panose="02020603050405020304" pitchFamily="18" charset="0"/>
              <a:ea typeface="Calibri"/>
              <a:cs typeface="Times New Roman" panose="02020603050405020304" pitchFamily="18" charset="0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3378708" y="1627632"/>
            <a:ext cx="2514600" cy="164592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r>
              <a:rPr lang="en-US" sz="1200" dirty="0">
                <a:solidFill>
                  <a:srgbClr val="2D3748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Time or app-based schedules. Still manually configured. Does not understand context like 'I'm in a meeting' vs 'I'm just at the office'.</a:t>
            </a:r>
            <a:endParaRPr lang="en-US" sz="1200" dirty="0">
              <a:latin typeface="Times New Roman" panose="02020603050405020304" pitchFamily="18" charset="0"/>
              <a:ea typeface="Calibri"/>
              <a:cs typeface="Times New Roman" panose="02020603050405020304" pitchFamily="18" charset="0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6208776" y="1097280"/>
            <a:ext cx="2743200" cy="2103120"/>
          </a:xfrm>
          <a:prstGeom prst="rect">
            <a:avLst/>
          </a:prstGeom>
          <a:solidFill>
            <a:srgbClr val="FFFFFF"/>
          </a:solidFill>
          <a:ln w="15240">
            <a:solidFill>
              <a:srgbClr val="D1D9E6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5" name="Shape 13"/>
          <p:cNvSpPr/>
          <p:nvPr/>
        </p:nvSpPr>
        <p:spPr>
          <a:xfrm>
            <a:off x="6208776" y="1097280"/>
            <a:ext cx="64008" cy="210312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/>
          <p:nvPr/>
        </p:nvSpPr>
        <p:spPr>
          <a:xfrm>
            <a:off x="6345936" y="1284732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2809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Google / Apple Adaptive Battery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6323076" y="1659467"/>
            <a:ext cx="2514600" cy="164592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2D3748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Optimizes background apps but does NOT manage ringer, DND, or automation rules based on behavioural patterns.</a:t>
            </a:r>
            <a:endParaRPr lang="en-US" sz="1200" dirty="0">
              <a:latin typeface="Times New Roman" panose="02020603050405020304" pitchFamily="18" charset="0"/>
              <a:ea typeface="Calibri"/>
              <a:cs typeface="Times New Roman" panose="02020603050405020304" pitchFamily="18" charset="0"/>
            </a:endParaRPr>
          </a:p>
        </p:txBody>
      </p:sp>
      <p:sp>
        <p:nvSpPr>
          <p:cNvPr id="18" name="Shape 16"/>
          <p:cNvSpPr/>
          <p:nvPr/>
        </p:nvSpPr>
        <p:spPr>
          <a:xfrm>
            <a:off x="320040" y="3596640"/>
            <a:ext cx="8503920" cy="1139952"/>
          </a:xfrm>
          <a:prstGeom prst="rect">
            <a:avLst/>
          </a:prstGeom>
          <a:solidFill>
            <a:srgbClr val="FFF3E0"/>
          </a:solidFill>
          <a:ln w="19050">
            <a:solidFill>
              <a:srgbClr val="FF6B3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9" name="Text 17"/>
          <p:cNvSpPr/>
          <p:nvPr/>
        </p:nvSpPr>
        <p:spPr>
          <a:xfrm>
            <a:off x="384048" y="3698748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6B35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🔍  The Gap &amp; Opportunity</a:t>
            </a:r>
            <a:endParaRPr lang="en-US" sz="1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" name="Text 18"/>
          <p:cNvSpPr/>
          <p:nvPr/>
        </p:nvSpPr>
        <p:spPr>
          <a:xfrm>
            <a:off x="457200" y="3767328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2D3748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No existing solution passively learns your behaviour and auto-generates rules. PhoneWhisperer fills this gap: observe → cluster → infer rules → execute — all on-device, no cloud, no manual setup.</a:t>
            </a:r>
            <a:endParaRPr lang="en-US" sz="12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164592"/>
            <a:ext cx="502920" cy="201168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320040" y="164592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Idea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20040" y="457200"/>
            <a:ext cx="8503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C3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Solutions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20040" y="932688"/>
            <a:ext cx="2286000" cy="36576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320040" y="1097280"/>
            <a:ext cx="8503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C3557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What we built:</a:t>
            </a:r>
            <a:endParaRPr lang="en-US" sz="1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 5"/>
          <p:cNvSpPr/>
          <p:nvPr/>
        </p:nvSpPr>
        <p:spPr>
          <a:xfrm>
            <a:off x="320040" y="1417320"/>
            <a:ext cx="8503920" cy="68580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r>
              <a:rPr lang="en-US" sz="1300" dirty="0">
                <a:solidFill>
                  <a:srgbClr val="2D3748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An Android app that silently observes your phone usage — location, app usage, DND patterns, calendar — clusters that </a:t>
            </a:r>
            <a:r>
              <a:rPr lang="en-US" sz="1300" dirty="0" err="1">
                <a:solidFill>
                  <a:srgbClr val="2D3748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behaviour</a:t>
            </a:r>
            <a:r>
              <a:rPr lang="en-US" sz="1300" dirty="0">
                <a:solidFill>
                  <a:srgbClr val="2D3748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 with DBSCAN and uses an on-device LLM (Gemma 2B) and Gemini LLM to generate human-readable automation rules. You approve them. Your phone runs them.</a:t>
            </a:r>
            <a:endParaRPr lang="en-US" sz="1300" dirty="0">
              <a:latin typeface="Times New Roman" panose="02020603050405020304" pitchFamily="18" charset="0"/>
              <a:ea typeface="Calibri"/>
              <a:cs typeface="Times New Roman" panose="02020603050405020304" pitchFamily="18" charset="0"/>
            </a:endParaRPr>
          </a:p>
        </p:txBody>
      </p:sp>
      <p:sp>
        <p:nvSpPr>
          <p:cNvPr id="8" name="Shape 6"/>
          <p:cNvSpPr/>
          <p:nvPr/>
        </p:nvSpPr>
        <p:spPr>
          <a:xfrm>
            <a:off x="320040" y="2286000"/>
            <a:ext cx="2743200" cy="2423160"/>
          </a:xfrm>
          <a:prstGeom prst="rect">
            <a:avLst/>
          </a:prstGeom>
          <a:solidFill>
            <a:srgbClr val="FFFFFF"/>
          </a:solidFill>
          <a:ln w="15240">
            <a:solidFill>
              <a:srgbClr val="D1D9E6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9" name="Shape 7"/>
          <p:cNvSpPr/>
          <p:nvPr/>
        </p:nvSpPr>
        <p:spPr>
          <a:xfrm>
            <a:off x="320040" y="2286000"/>
            <a:ext cx="64008" cy="242316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320040" y="2452878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2809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🔍 Passive Observation</a:t>
            </a:r>
            <a:endParaRPr lang="en-US" sz="1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ext 9"/>
          <p:cNvSpPr/>
          <p:nvPr/>
        </p:nvSpPr>
        <p:spPr>
          <a:xfrm>
            <a:off x="480060" y="2835317"/>
            <a:ext cx="2514600" cy="196596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r>
              <a:rPr lang="en-US" sz="1200" dirty="0">
                <a:solidFill>
                  <a:srgbClr val="2D3748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Work Manager collects GPS, app usage, DND events every 15 min — no battery drain, no foreground service.</a:t>
            </a:r>
            <a:endParaRPr lang="en-US" sz="1200" dirty="0">
              <a:latin typeface="Times New Roman" panose="02020603050405020304" pitchFamily="18" charset="0"/>
              <a:ea typeface="Calibri"/>
              <a:cs typeface="Times New Roman" panose="02020603050405020304" pitchFamily="18" charset="0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3264408" y="2286000"/>
            <a:ext cx="2743200" cy="2423160"/>
          </a:xfrm>
          <a:prstGeom prst="rect">
            <a:avLst/>
          </a:prstGeom>
          <a:solidFill>
            <a:srgbClr val="FFFFFF"/>
          </a:solidFill>
          <a:ln w="15240">
            <a:solidFill>
              <a:srgbClr val="D1D9E6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3" name="Shape 11"/>
          <p:cNvSpPr/>
          <p:nvPr/>
        </p:nvSpPr>
        <p:spPr>
          <a:xfrm>
            <a:off x="3264408" y="2286000"/>
            <a:ext cx="64008" cy="242316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3312414" y="243459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2809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🧠 On-Device AI</a:t>
            </a:r>
            <a:endParaRPr lang="en-US" sz="1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3410712" y="2827559"/>
            <a:ext cx="2514600" cy="196596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r>
              <a:rPr lang="en-US" sz="1200" dirty="0">
                <a:solidFill>
                  <a:srgbClr val="2D3748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DBSCAN clusters behaviors patterns. Gemma 2B and </a:t>
            </a:r>
            <a:r>
              <a:rPr lang="en-US" sz="1200" dirty="0" err="1">
                <a:solidFill>
                  <a:srgbClr val="2D3748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Gimini</a:t>
            </a:r>
            <a:r>
              <a:rPr lang="en-US" sz="1200" dirty="0">
                <a:solidFill>
                  <a:srgbClr val="2D3748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 LLM model translates clusters into plain-English rules. Zero data leaves your device.</a:t>
            </a:r>
            <a:endParaRPr lang="en-US" sz="1200" dirty="0">
              <a:latin typeface="Times New Roman" panose="02020603050405020304" pitchFamily="18" charset="0"/>
              <a:ea typeface="Calibri"/>
              <a:cs typeface="Times New Roman" panose="02020603050405020304" pitchFamily="18" charset="0"/>
            </a:endParaRPr>
          </a:p>
        </p:txBody>
      </p:sp>
      <p:sp>
        <p:nvSpPr>
          <p:cNvPr id="16" name="Shape 14"/>
          <p:cNvSpPr/>
          <p:nvPr/>
        </p:nvSpPr>
        <p:spPr>
          <a:xfrm>
            <a:off x="6208776" y="2286000"/>
            <a:ext cx="2743200" cy="2423160"/>
          </a:xfrm>
          <a:prstGeom prst="rect">
            <a:avLst/>
          </a:prstGeom>
          <a:solidFill>
            <a:srgbClr val="FFFFFF"/>
          </a:solidFill>
          <a:ln w="15240">
            <a:solidFill>
              <a:srgbClr val="D1D9E6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7" name="Shape 15"/>
          <p:cNvSpPr/>
          <p:nvPr/>
        </p:nvSpPr>
        <p:spPr>
          <a:xfrm>
            <a:off x="6208776" y="2286000"/>
            <a:ext cx="64008" cy="242316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8" name="Text 16"/>
          <p:cNvSpPr/>
          <p:nvPr/>
        </p:nvSpPr>
        <p:spPr>
          <a:xfrm>
            <a:off x="6300216" y="2452878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2809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✅ User-Controlled Automation</a:t>
            </a:r>
            <a:endParaRPr lang="en-US" sz="1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6355080" y="2861102"/>
            <a:ext cx="2686050" cy="1958817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r>
              <a:rPr lang="en-US" sz="1200" dirty="0">
                <a:solidFill>
                  <a:srgbClr val="2D3748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Approve/reject rules via a Compose UI. Approved rules execute via OS APIs (DND, Alarm Manager, Audio Manager).</a:t>
            </a:r>
            <a:endParaRPr lang="en-US" sz="1200" dirty="0">
              <a:latin typeface="Times New Roman" panose="02020603050405020304" pitchFamily="18" charset="0"/>
              <a:ea typeface="Calibri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164592"/>
            <a:ext cx="502920" cy="201168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320040" y="164592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Idea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20040" y="457200"/>
            <a:ext cx="8503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C3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/ Product Walkthrough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20040" y="932688"/>
            <a:ext cx="2286000" cy="36576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Shape 6"/>
          <p:cNvSpPr/>
          <p:nvPr/>
        </p:nvSpPr>
        <p:spPr>
          <a:xfrm>
            <a:off x="320040" y="1188720"/>
            <a:ext cx="347472" cy="347472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/>
          <p:nvPr/>
        </p:nvSpPr>
        <p:spPr>
          <a:xfrm>
            <a:off x="320040" y="118872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777240" y="1143000"/>
            <a:ext cx="3840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C3557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Install &amp; Grant Permissions</a:t>
            </a:r>
            <a:endParaRPr lang="en-US" sz="1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ext 9"/>
          <p:cNvSpPr/>
          <p:nvPr/>
        </p:nvSpPr>
        <p:spPr>
          <a:xfrm>
            <a:off x="790956" y="1517904"/>
            <a:ext cx="384048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2D3748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User installs APK → grants Location + Usage Stats access in Settings → app starts silent background collection.</a:t>
            </a:r>
            <a:endParaRPr lang="en-US" sz="1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4754880" y="1188720"/>
            <a:ext cx="347472" cy="347472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4754880" y="118872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5212080" y="1143000"/>
            <a:ext cx="3840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C3557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Observation Phase (7–14 days)</a:t>
            </a:r>
            <a:endParaRPr lang="en-US" sz="1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5248656" y="1504188"/>
            <a:ext cx="384048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2D3748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WorkManager runs every 15 min. GPS, app usage, DND toggles, calendar events recorded into Room DB  no UI, no interruption.</a:t>
            </a:r>
            <a:endParaRPr lang="en-US" sz="1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Shape 14"/>
          <p:cNvSpPr/>
          <p:nvPr/>
        </p:nvSpPr>
        <p:spPr>
          <a:xfrm>
            <a:off x="320040" y="2423160"/>
            <a:ext cx="347472" cy="347472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Text 15"/>
          <p:cNvSpPr/>
          <p:nvPr/>
        </p:nvSpPr>
        <p:spPr>
          <a:xfrm>
            <a:off x="320040" y="242316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777240" y="2377440"/>
            <a:ext cx="3840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C3557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Pattern Detection</a:t>
            </a:r>
            <a:endParaRPr lang="en-US" sz="1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777240" y="2670048"/>
            <a:ext cx="3840480" cy="77724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r>
              <a:rPr lang="en-US" sz="1300" dirty="0">
                <a:solidFill>
                  <a:srgbClr val="2D3748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Nightly DBSCAN job clusters events by time + location. Discovers: 'Every weekday 9–10am, you're at college and DND is ON'.</a:t>
            </a:r>
            <a:endParaRPr lang="en-US" sz="1300" dirty="0">
              <a:latin typeface="Times New Roman" panose="02020603050405020304" pitchFamily="18" charset="0"/>
              <a:ea typeface="Calibri"/>
              <a:cs typeface="Times New Roman" panose="02020603050405020304" pitchFamily="18" charset="0"/>
            </a:endParaRPr>
          </a:p>
        </p:txBody>
      </p:sp>
      <p:sp>
        <p:nvSpPr>
          <p:cNvPr id="20" name="Shape 18"/>
          <p:cNvSpPr/>
          <p:nvPr/>
        </p:nvSpPr>
        <p:spPr>
          <a:xfrm>
            <a:off x="4754880" y="2423160"/>
            <a:ext cx="347472" cy="347472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" name="Text 19"/>
          <p:cNvSpPr/>
          <p:nvPr/>
        </p:nvSpPr>
        <p:spPr>
          <a:xfrm>
            <a:off x="4754880" y="242316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5212080" y="2377440"/>
            <a:ext cx="3840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C3557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Rule Generation</a:t>
            </a:r>
            <a:endParaRPr lang="en-US" sz="1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3" name="Text 21"/>
          <p:cNvSpPr/>
          <p:nvPr/>
        </p:nvSpPr>
        <p:spPr>
          <a:xfrm>
            <a:off x="5212080" y="2670048"/>
            <a:ext cx="384048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2D3748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Gemma 2B reads cluster stats → generates: 'Automatically enable DND on weekdays 9–10am when at college location.'</a:t>
            </a:r>
            <a:endParaRPr lang="en-US" sz="1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4" name="Shape 22"/>
          <p:cNvSpPr/>
          <p:nvPr/>
        </p:nvSpPr>
        <p:spPr>
          <a:xfrm>
            <a:off x="320040" y="3657600"/>
            <a:ext cx="347472" cy="347472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5" name="Text 23"/>
          <p:cNvSpPr/>
          <p:nvPr/>
        </p:nvSpPr>
        <p:spPr>
          <a:xfrm>
            <a:off x="320040" y="365760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777240" y="3611880"/>
            <a:ext cx="3840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C3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Approval Screen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777240" y="3904488"/>
            <a:ext cx="384048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Jetpack Compose shows rule as a card: title, explanation, toggle. User taps Approve / Reject.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4754880" y="3657600"/>
            <a:ext cx="347472" cy="347472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9" name="Text 27"/>
          <p:cNvSpPr/>
          <p:nvPr/>
        </p:nvSpPr>
        <p:spPr>
          <a:xfrm>
            <a:off x="4754880" y="365760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5212080" y="3611880"/>
            <a:ext cx="3840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C3557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Execution</a:t>
            </a:r>
            <a:endParaRPr lang="en-US" sz="1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1" name="Text 29"/>
          <p:cNvSpPr/>
          <p:nvPr/>
        </p:nvSpPr>
        <p:spPr>
          <a:xfrm>
            <a:off x="5212080" y="3904488"/>
            <a:ext cx="384048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2D3748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Approved rules trigger via AlarmManager + AudioManager. Phone manages itself. User never needs to touch it.</a:t>
            </a:r>
            <a:endParaRPr lang="en-US" sz="1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164592"/>
            <a:ext cx="502920" cy="201168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320040" y="164592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Idea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20040" y="457200"/>
            <a:ext cx="8503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C3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 &amp; Architecture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20040" y="932688"/>
            <a:ext cx="2286000" cy="36576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320040" y="114300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C3557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Tech Stack</a:t>
            </a:r>
            <a:endParaRPr lang="en-US" sz="1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 5"/>
          <p:cNvSpPr/>
          <p:nvPr/>
        </p:nvSpPr>
        <p:spPr>
          <a:xfrm>
            <a:off x="320040" y="150876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2809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Language</a:t>
            </a:r>
            <a:endParaRPr lang="en-US" sz="11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 6"/>
          <p:cNvSpPr/>
          <p:nvPr/>
        </p:nvSpPr>
        <p:spPr>
          <a:xfrm>
            <a:off x="2011680" y="150876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D3748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Kotlin</a:t>
            </a:r>
            <a:endParaRPr lang="en-US" sz="11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 7"/>
          <p:cNvSpPr/>
          <p:nvPr/>
        </p:nvSpPr>
        <p:spPr>
          <a:xfrm>
            <a:off x="320040" y="182880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2809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UI</a:t>
            </a:r>
            <a:endParaRPr lang="en-US" sz="11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 8"/>
          <p:cNvSpPr/>
          <p:nvPr/>
        </p:nvSpPr>
        <p:spPr>
          <a:xfrm>
            <a:off x="2011680" y="182880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D3748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Jetpack Compose (Material 3)</a:t>
            </a:r>
            <a:endParaRPr lang="en-US" sz="11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ext 9"/>
          <p:cNvSpPr/>
          <p:nvPr/>
        </p:nvSpPr>
        <p:spPr>
          <a:xfrm>
            <a:off x="320040" y="214884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2809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Database</a:t>
            </a:r>
            <a:endParaRPr lang="en-US" sz="11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2011680" y="214884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D3748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Room DB (SQLite)</a:t>
            </a:r>
            <a:endParaRPr lang="en-US" sz="11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320040" y="246888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2809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Background</a:t>
            </a:r>
            <a:endParaRPr lang="en-US" sz="11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2011680" y="2468880"/>
            <a:ext cx="2286000" cy="27432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r>
              <a:rPr lang="en-US" sz="1150" dirty="0">
                <a:solidFill>
                  <a:srgbClr val="2D3748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Work Manager (battery-first)</a:t>
            </a:r>
            <a:endParaRPr lang="en-US" sz="1150" dirty="0">
              <a:latin typeface="Times New Roman" panose="02020603050405020304" pitchFamily="18" charset="0"/>
              <a:ea typeface="Calibri"/>
              <a:cs typeface="Times New Roman" panose="02020603050405020304" pitchFamily="18" charset="0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320040" y="278892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2809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Location</a:t>
            </a:r>
            <a:endParaRPr lang="en-US" sz="11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2011680" y="2788920"/>
            <a:ext cx="2286000" cy="27432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r>
              <a:rPr lang="en-US" sz="1150" dirty="0">
                <a:solidFill>
                  <a:srgbClr val="2D3748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Google Fused Location Provider</a:t>
            </a:r>
            <a:endParaRPr lang="en-US" sz="11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320040" y="310896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2809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AI / Clustering</a:t>
            </a:r>
            <a:endParaRPr lang="en-US" sz="11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2011680" y="310896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D3748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DBSCAN (custom Kotlin impl.)</a:t>
            </a:r>
            <a:endParaRPr lang="en-US" sz="11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320040" y="342900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2809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On-Device LLM</a:t>
            </a:r>
            <a:endParaRPr lang="en-US" sz="11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" name="Text 18"/>
          <p:cNvSpPr/>
          <p:nvPr/>
        </p:nvSpPr>
        <p:spPr>
          <a:xfrm>
            <a:off x="2011680" y="3429000"/>
            <a:ext cx="2286000" cy="27432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r>
              <a:rPr lang="en-US" sz="1150" dirty="0">
                <a:solidFill>
                  <a:srgbClr val="2D3748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Gemma 2B via Media Pipe / </a:t>
            </a:r>
            <a:r>
              <a:rPr lang="en-US" sz="1150" dirty="0" err="1">
                <a:solidFill>
                  <a:srgbClr val="2D3748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TFLite</a:t>
            </a:r>
            <a:endParaRPr lang="en-US" sz="1150" dirty="0" err="1">
              <a:latin typeface="Times New Roman" panose="02020603050405020304" pitchFamily="18" charset="0"/>
              <a:ea typeface="Calibri"/>
              <a:cs typeface="Times New Roman" panose="02020603050405020304" pitchFamily="18" charset="0"/>
            </a:endParaRPr>
          </a:p>
        </p:txBody>
      </p:sp>
      <p:sp>
        <p:nvSpPr>
          <p:cNvPr id="21" name="Text 19"/>
          <p:cNvSpPr/>
          <p:nvPr/>
        </p:nvSpPr>
        <p:spPr>
          <a:xfrm>
            <a:off x="320040" y="374904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2809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DI</a:t>
            </a:r>
            <a:endParaRPr lang="en-US" sz="11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" name="Text 20"/>
          <p:cNvSpPr/>
          <p:nvPr/>
        </p:nvSpPr>
        <p:spPr>
          <a:xfrm>
            <a:off x="2011680" y="374904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D3748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Hilt (Dagger)</a:t>
            </a:r>
            <a:endParaRPr lang="en-US" sz="11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3" name="Text 21"/>
          <p:cNvSpPr/>
          <p:nvPr/>
        </p:nvSpPr>
        <p:spPr>
          <a:xfrm>
            <a:off x="320040" y="406908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2809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Min SDK</a:t>
            </a:r>
            <a:endParaRPr lang="en-US" sz="11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4" name="Text 22"/>
          <p:cNvSpPr/>
          <p:nvPr/>
        </p:nvSpPr>
        <p:spPr>
          <a:xfrm>
            <a:off x="2011680" y="406908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D3748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Android 8 (API 26)</a:t>
            </a:r>
            <a:endParaRPr lang="en-US" sz="11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5" name="Text 23"/>
          <p:cNvSpPr/>
          <p:nvPr/>
        </p:nvSpPr>
        <p:spPr>
          <a:xfrm>
            <a:off x="4572000" y="1143000"/>
            <a:ext cx="4297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C3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Flow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4572000" y="1508760"/>
            <a:ext cx="4206240" cy="347472"/>
          </a:xfrm>
          <a:prstGeom prst="rect">
            <a:avLst/>
          </a:prstGeom>
          <a:solidFill>
            <a:srgbClr val="028090"/>
          </a:solidFill>
          <a:ln w="10160">
            <a:solidFill>
              <a:srgbClr val="D1D9E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7" name="Text 25"/>
          <p:cNvSpPr/>
          <p:nvPr/>
        </p:nvSpPr>
        <p:spPr>
          <a:xfrm>
            <a:off x="4617720" y="1508760"/>
            <a:ext cx="4114800" cy="3474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 Sensors (GPS, UsageStats, Calendar, DND)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4572000" y="1975104"/>
            <a:ext cx="4206240" cy="256032"/>
          </a:xfrm>
          <a:prstGeom prst="rect">
            <a:avLst/>
          </a:prstGeom>
          <a:solidFill>
            <a:srgbClr val="FFFFFF"/>
          </a:solidFill>
          <a:ln w="1016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9" name="Text 27"/>
          <p:cNvSpPr/>
          <p:nvPr/>
        </p:nvSpPr>
        <p:spPr>
          <a:xfrm>
            <a:off x="4617720" y="1975104"/>
            <a:ext cx="4114800" cy="25603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/>
            <a:r>
              <a:rPr lang="en-US" sz="1100" dirty="0">
                <a:solidFill>
                  <a:srgbClr val="028090"/>
                </a:solidFill>
                <a:latin typeface="Calibri"/>
                <a:ea typeface="Calibri"/>
                <a:cs typeface="Calibri"/>
              </a:rPr>
              <a:t>↓  Background Workers (</a:t>
            </a:r>
            <a:r>
              <a:rPr lang="en-US" sz="1100">
                <a:solidFill>
                  <a:srgbClr val="028090"/>
                </a:solidFill>
                <a:latin typeface="Calibri"/>
                <a:ea typeface="Calibri"/>
                <a:cs typeface="Calibri"/>
              </a:rPr>
              <a:t>Work Manager</a:t>
            </a:r>
            <a:r>
              <a:rPr lang="en-US" sz="1100" dirty="0">
                <a:solidFill>
                  <a:srgbClr val="028090"/>
                </a:solidFill>
                <a:latin typeface="Calibri"/>
                <a:ea typeface="Calibri"/>
                <a:cs typeface="Calibri"/>
              </a:rPr>
              <a:t>, 15 min)</a:t>
            </a:r>
            <a:endParaRPr lang="en-US" sz="1100" dirty="0">
              <a:latin typeface="Calibri"/>
              <a:ea typeface="Calibri"/>
              <a:cs typeface="Calibri"/>
            </a:endParaRPr>
          </a:p>
        </p:txBody>
      </p:sp>
      <p:sp>
        <p:nvSpPr>
          <p:cNvPr id="30" name="Shape 28"/>
          <p:cNvSpPr/>
          <p:nvPr/>
        </p:nvSpPr>
        <p:spPr>
          <a:xfrm>
            <a:off x="4572000" y="2441448"/>
            <a:ext cx="4206240" cy="347472"/>
          </a:xfrm>
          <a:prstGeom prst="rect">
            <a:avLst/>
          </a:prstGeom>
          <a:solidFill>
            <a:srgbClr val="F5F7FA"/>
          </a:solidFill>
          <a:ln w="10160">
            <a:solidFill>
              <a:srgbClr val="D1D9E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1" name="Text 29"/>
          <p:cNvSpPr/>
          <p:nvPr/>
        </p:nvSpPr>
        <p:spPr>
          <a:xfrm>
            <a:off x="4617720" y="2441448"/>
            <a:ext cx="4114800" cy="3474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/>
            <a:r>
              <a:rPr lang="en-US" sz="1150" b="1" dirty="0">
                <a:solidFill>
                  <a:srgbClr val="2D3748"/>
                </a:solidFill>
                <a:latin typeface="Calibri"/>
                <a:ea typeface="Calibri"/>
                <a:cs typeface="Calibri"/>
              </a:rPr>
              <a:t>Room DB (</a:t>
            </a:r>
            <a:r>
              <a:rPr lang="en-US" sz="1150" b="1">
                <a:solidFill>
                  <a:srgbClr val="2D3748"/>
                </a:solidFill>
                <a:latin typeface="Calibri"/>
                <a:ea typeface="Calibri"/>
                <a:cs typeface="Calibri"/>
              </a:rPr>
              <a:t>Behavior Event</a:t>
            </a:r>
            <a:r>
              <a:rPr lang="en-US" sz="1150" b="1" dirty="0">
                <a:solidFill>
                  <a:srgbClr val="2D3748"/>
                </a:solidFill>
                <a:latin typeface="Calibri"/>
                <a:ea typeface="Calibri"/>
                <a:cs typeface="Calibri"/>
              </a:rPr>
              <a:t>, </a:t>
            </a:r>
            <a:r>
              <a:rPr lang="en-US" sz="1150" b="1">
                <a:solidFill>
                  <a:srgbClr val="2D3748"/>
                </a:solidFill>
                <a:latin typeface="Calibri"/>
                <a:ea typeface="Calibri"/>
                <a:cs typeface="Calibri"/>
              </a:rPr>
              <a:t>Location Event, App Usage Event</a:t>
            </a:r>
            <a:r>
              <a:rPr lang="en-US" sz="1150" b="1" dirty="0">
                <a:solidFill>
                  <a:srgbClr val="2D3748"/>
                </a:solidFill>
                <a:latin typeface="Calibri"/>
                <a:ea typeface="Calibri"/>
                <a:cs typeface="Calibri"/>
              </a:rPr>
              <a:t>)</a:t>
            </a:r>
            <a:endParaRPr lang="en-US" sz="1150" dirty="0">
              <a:latin typeface="Calibri"/>
              <a:ea typeface="Calibri"/>
              <a:cs typeface="Calibri"/>
            </a:endParaRPr>
          </a:p>
        </p:txBody>
      </p:sp>
      <p:sp>
        <p:nvSpPr>
          <p:cNvPr id="32" name="Shape 30"/>
          <p:cNvSpPr/>
          <p:nvPr/>
        </p:nvSpPr>
        <p:spPr>
          <a:xfrm>
            <a:off x="4572000" y="2907792"/>
            <a:ext cx="4206240" cy="256032"/>
          </a:xfrm>
          <a:prstGeom prst="rect">
            <a:avLst/>
          </a:prstGeom>
          <a:solidFill>
            <a:srgbClr val="FFFFFF"/>
          </a:solidFill>
          <a:ln w="1016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3" name="Text 31"/>
          <p:cNvSpPr/>
          <p:nvPr/>
        </p:nvSpPr>
        <p:spPr>
          <a:xfrm>
            <a:off x="4617720" y="2907792"/>
            <a:ext cx="4114800" cy="25603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  Nightly DBSCAN Clustering Engine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4572000" y="3374136"/>
            <a:ext cx="4206240" cy="347472"/>
          </a:xfrm>
          <a:prstGeom prst="rect">
            <a:avLst/>
          </a:prstGeom>
          <a:solidFill>
            <a:srgbClr val="F5F7FA"/>
          </a:solidFill>
          <a:ln w="10160">
            <a:solidFill>
              <a:srgbClr val="D1D9E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5" name="Text 33"/>
          <p:cNvSpPr/>
          <p:nvPr/>
        </p:nvSpPr>
        <p:spPr>
          <a:xfrm>
            <a:off x="4617720" y="3374136"/>
            <a:ext cx="4114800" cy="3474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On-Device Gemma 2B → Human-readable Rules</a:t>
            </a:r>
            <a:endParaRPr lang="en-US" sz="1150" dirty="0"/>
          </a:p>
        </p:txBody>
      </p:sp>
      <p:sp>
        <p:nvSpPr>
          <p:cNvPr id="36" name="Shape 34"/>
          <p:cNvSpPr/>
          <p:nvPr/>
        </p:nvSpPr>
        <p:spPr>
          <a:xfrm>
            <a:off x="4572000" y="3840480"/>
            <a:ext cx="4206240" cy="256032"/>
          </a:xfrm>
          <a:prstGeom prst="rect">
            <a:avLst/>
          </a:prstGeom>
          <a:solidFill>
            <a:srgbClr val="FFFFFF"/>
          </a:solidFill>
          <a:ln w="1016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7" name="Text 35"/>
          <p:cNvSpPr/>
          <p:nvPr/>
        </p:nvSpPr>
        <p:spPr>
          <a:xfrm>
            <a:off x="4617720" y="3840480"/>
            <a:ext cx="4114800" cy="25603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  Jetpack Compose UI (Rule Approval Cards)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4572000" y="4306824"/>
            <a:ext cx="4206240" cy="347472"/>
          </a:xfrm>
          <a:prstGeom prst="rect">
            <a:avLst/>
          </a:prstGeom>
          <a:solidFill>
            <a:srgbClr val="028090"/>
          </a:solidFill>
          <a:ln w="10160">
            <a:solidFill>
              <a:srgbClr val="D1D9E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9" name="Text 37"/>
          <p:cNvSpPr/>
          <p:nvPr/>
        </p:nvSpPr>
        <p:spPr>
          <a:xfrm>
            <a:off x="4617720" y="4306824"/>
            <a:ext cx="4114800" cy="3474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/>
            <a:r>
              <a:rPr lang="en-US" sz="1150" b="1" dirty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OS Executors (DND, Alarm Manager, </a:t>
            </a:r>
            <a:r>
              <a:rPr lang="en-US" sz="115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Audio Manager</a:t>
            </a:r>
            <a:r>
              <a:rPr lang="en-US" sz="1150" b="1" dirty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)</a:t>
            </a:r>
            <a:endParaRPr lang="en-US" sz="1150" dirty="0">
              <a:latin typeface="Calibri"/>
              <a:ea typeface="Calibri"/>
              <a:cs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164592"/>
            <a:ext cx="502920" cy="201168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320040" y="164592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Idea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20040" y="457200"/>
            <a:ext cx="8503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C3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 &amp; Use cases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20040" y="932688"/>
            <a:ext cx="2286000" cy="36576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Shape 4"/>
          <p:cNvSpPr/>
          <p:nvPr/>
        </p:nvSpPr>
        <p:spPr>
          <a:xfrm>
            <a:off x="320040" y="1097280"/>
            <a:ext cx="420624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9E6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Shape 5"/>
          <p:cNvSpPr/>
          <p:nvPr/>
        </p:nvSpPr>
        <p:spPr>
          <a:xfrm>
            <a:off x="320040" y="1097280"/>
            <a:ext cx="4206240" cy="32004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411480" y="1115568"/>
            <a:ext cx="4023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📚 College Student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 7"/>
          <p:cNvSpPr/>
          <p:nvPr/>
        </p:nvSpPr>
        <p:spPr>
          <a:xfrm>
            <a:off x="411480" y="1545336"/>
            <a:ext cx="4023360" cy="6217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Scenario: Rahul attends 9am lectures daily. PhoneWhisperer detects he's always at college on weekdays 9–11am with DND on.</a:t>
            </a:r>
            <a:endParaRPr lang="en-US" sz="10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 8"/>
          <p:cNvSpPr/>
          <p:nvPr/>
        </p:nvSpPr>
        <p:spPr>
          <a:xfrm>
            <a:off x="411480" y="2103120"/>
            <a:ext cx="4023360" cy="6217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b="1" dirty="0">
                <a:solidFill>
                  <a:srgbClr val="005F6B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✅ Auto-enables DND + silences ringer every weekday morning. He never misses a lecture because of a notification again.</a:t>
            </a:r>
            <a:endParaRPr lang="en-US" sz="10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4754880" y="1097280"/>
            <a:ext cx="420624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9E6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2" name="Shape 10"/>
          <p:cNvSpPr/>
          <p:nvPr/>
        </p:nvSpPr>
        <p:spPr>
          <a:xfrm>
            <a:off x="4754880" y="1097280"/>
            <a:ext cx="4206240" cy="32004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4846320" y="1115568"/>
            <a:ext cx="4023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💼 Corporate Professional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4846320" y="1536192"/>
            <a:ext cx="4023360" cy="6217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Scenario: Priya has recurring 3pm team standup. App sees she enables Focus Mode every day at 3pm from the same office GPS cluster.</a:t>
            </a:r>
            <a:endParaRPr lang="en-US" sz="10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4846320" y="2103120"/>
            <a:ext cx="4023360" cy="6217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b="1" dirty="0">
                <a:solidFill>
                  <a:srgbClr val="005F6B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✅ Auto-triggers Focus Mode + blocks non-urgent notifications every 3–3:30pm. Zero manual effort.</a:t>
            </a:r>
            <a:endParaRPr lang="en-US" sz="10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Shape 15"/>
          <p:cNvSpPr/>
          <p:nvPr/>
        </p:nvSpPr>
        <p:spPr>
          <a:xfrm>
            <a:off x="320040" y="3017520"/>
            <a:ext cx="4206240" cy="32004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8" name="Text 16"/>
          <p:cNvSpPr/>
          <p:nvPr/>
        </p:nvSpPr>
        <p:spPr>
          <a:xfrm>
            <a:off x="411480" y="3035808"/>
            <a:ext cx="4023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🌙 Night Routine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411480" y="3429000"/>
            <a:ext cx="4023360" cy="621792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r>
              <a:rPr lang="en-US" sz="1050" dirty="0">
                <a:solidFill>
                  <a:srgbClr val="64748B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Scenario: Shiva plugs in his phone at 10:30pm every night. App observes plug-in + 10:30pm → DND always enabled next.</a:t>
            </a:r>
            <a:endParaRPr lang="en-US" sz="1050" dirty="0">
              <a:latin typeface="Times New Roman" panose="02020603050405020304" pitchFamily="18" charset="0"/>
              <a:ea typeface="Calibri"/>
              <a:cs typeface="Times New Roman" panose="02020603050405020304" pitchFamily="18" charset="0"/>
            </a:endParaRPr>
          </a:p>
        </p:txBody>
      </p:sp>
      <p:sp>
        <p:nvSpPr>
          <p:cNvPr id="20" name="Text 18"/>
          <p:cNvSpPr/>
          <p:nvPr/>
        </p:nvSpPr>
        <p:spPr>
          <a:xfrm>
            <a:off x="411480" y="4023360"/>
            <a:ext cx="4023360" cy="6217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b="1" dirty="0">
                <a:solidFill>
                  <a:srgbClr val="005F6B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✅ Auto-enables DND at 10:30pm when phone is charging. Alarm still rings through (allowlisted).</a:t>
            </a:r>
            <a:endParaRPr lang="en-US" sz="10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" name="Shape 19"/>
          <p:cNvSpPr/>
          <p:nvPr/>
        </p:nvSpPr>
        <p:spPr>
          <a:xfrm>
            <a:off x="4754880" y="3017520"/>
            <a:ext cx="420624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9E6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2" name="Shape 20"/>
          <p:cNvSpPr/>
          <p:nvPr/>
        </p:nvSpPr>
        <p:spPr>
          <a:xfrm>
            <a:off x="4754880" y="3017520"/>
            <a:ext cx="4206240" cy="32004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3" name="Text 21"/>
          <p:cNvSpPr/>
          <p:nvPr/>
        </p:nvSpPr>
        <p:spPr>
          <a:xfrm>
            <a:off x="4846320" y="3035808"/>
            <a:ext cx="4023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🏥 Hospital / Exam Hall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4" name="Text 22"/>
          <p:cNvSpPr/>
          <p:nvPr/>
        </p:nvSpPr>
        <p:spPr>
          <a:xfrm>
            <a:off x="4846320" y="3438144"/>
            <a:ext cx="4023360" cy="6217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Scenario: User enters a new GPS cluster (hospital) and always manually silences within 2 minutes.</a:t>
            </a:r>
            <a:endParaRPr lang="en-US" sz="10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5" name="Text 23"/>
          <p:cNvSpPr/>
          <p:nvPr/>
        </p:nvSpPr>
        <p:spPr>
          <a:xfrm>
            <a:off x="4846320" y="4023360"/>
            <a:ext cx="4023360" cy="6217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b="1" dirty="0">
                <a:solidFill>
                  <a:srgbClr val="005F6B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✅ After 3 visits, PhoneWhisperer generates rule: 'Silent mode at this location'. Suggests it for approval.</a:t>
            </a:r>
            <a:endParaRPr lang="en-US" sz="10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6" name="Shape 24"/>
          <p:cNvSpPr/>
          <p:nvPr/>
        </p:nvSpPr>
        <p:spPr>
          <a:xfrm>
            <a:off x="320040" y="4736592"/>
            <a:ext cx="8503920" cy="228600"/>
          </a:xfrm>
          <a:prstGeom prst="rect">
            <a:avLst/>
          </a:prstGeom>
          <a:solidFill>
            <a:srgbClr val="1C3557"/>
          </a:solidFill>
          <a:ln w="12700">
            <a:solidFill>
              <a:srgbClr val="1C355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7" name="Text 25"/>
          <p:cNvSpPr/>
          <p:nvPr/>
        </p:nvSpPr>
        <p:spPr>
          <a:xfrm>
            <a:off x="457200" y="4736592"/>
            <a:ext cx="8321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 Potential: 4.7B smartphone users worldwide → universal need for context-aware automation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164592"/>
            <a:ext cx="502920" cy="201168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320040" y="164592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Idea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20040" y="457200"/>
            <a:ext cx="8503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C3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Differentiation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20040" y="932688"/>
            <a:ext cx="2286000" cy="36576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320040" y="1097280"/>
            <a:ext cx="8503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C3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our solution stands out</a:t>
            </a:r>
            <a:endParaRPr lang="en-US" sz="15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91966263"/>
              </p:ext>
            </p:extLst>
          </p:nvPr>
        </p:nvGraphicFramePr>
        <p:xfrm>
          <a:off x="320040" y="1508760"/>
          <a:ext cx="8503920" cy="2194560"/>
        </p:xfrm>
        <a:graphic>
          <a:graphicData uri="http://schemas.openxmlformats.org/drawingml/2006/table">
            <a:tbl>
              <a:tblPr/>
              <a:tblGrid>
                <a:gridCol w="20116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373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1089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Feature</a:t>
                      </a:r>
                      <a:endParaRPr lang="en-US" sz="11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016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55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IFTTT / Tasker</a:t>
                      </a:r>
                      <a:endParaRPr lang="en-US" sz="11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016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55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Focus Modes</a:t>
                      </a:r>
                      <a:endParaRPr lang="en-US" sz="11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016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55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PhoneWhisperer ✅</a:t>
                      </a:r>
                      <a:endParaRPr lang="en-US" sz="11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016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5F6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2D3748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Setup required</a:t>
                      </a:r>
                      <a:endParaRPr lang="en-US" sz="11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016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2D3748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Manual</a:t>
                      </a:r>
                      <a:endParaRPr lang="en-US" sz="11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016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2D3748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Manual</a:t>
                      </a:r>
                      <a:endParaRPr lang="en-US" sz="11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016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005F6B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Zero — passive learning</a:t>
                      </a:r>
                      <a:endParaRPr lang="en-US" sz="11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016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2D3748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Learns behaviour</a:t>
                      </a:r>
                      <a:endParaRPr lang="en-US" sz="11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016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2D3748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No</a:t>
                      </a:r>
                      <a:endParaRPr lang="en-US" sz="11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016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2D3748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No</a:t>
                      </a:r>
                      <a:endParaRPr lang="en-US" sz="11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016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005F6B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Yes — DBSCAN clusters</a:t>
                      </a:r>
                      <a:endParaRPr lang="en-US" sz="11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016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2D3748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On-device / Private</a:t>
                      </a:r>
                      <a:endParaRPr lang="en-US" sz="11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016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2D3748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Cloud</a:t>
                      </a:r>
                      <a:endParaRPr lang="en-US" sz="11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016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2D3748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On-device</a:t>
                      </a:r>
                      <a:endParaRPr lang="en-US" sz="11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016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005F6B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100% On-device</a:t>
                      </a:r>
                      <a:endParaRPr lang="en-US" sz="11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016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2D3748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Understands context</a:t>
                      </a:r>
                      <a:endParaRPr lang="en-US" sz="11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016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2D3748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Basic triggers</a:t>
                      </a:r>
                      <a:endParaRPr lang="en-US" sz="11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016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2D3748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Time/apps only</a:t>
                      </a:r>
                      <a:endParaRPr lang="en-US" sz="11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016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005F6B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Location + time + app + calendar</a:t>
                      </a:r>
                      <a:endParaRPr lang="en-US" sz="11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016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2D3748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User approval flow</a:t>
                      </a:r>
                      <a:endParaRPr lang="en-US" sz="11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016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2D3748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No</a:t>
                      </a:r>
                      <a:endParaRPr lang="en-US" sz="11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016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2D3748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No</a:t>
                      </a:r>
                      <a:endParaRPr lang="en-US" sz="11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016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005F6B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Yes — transparent AI decisions</a:t>
                      </a:r>
                      <a:endParaRPr lang="en-US" sz="11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016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1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8" name="Text 5"/>
          <p:cNvSpPr/>
          <p:nvPr/>
        </p:nvSpPr>
        <p:spPr>
          <a:xfrm>
            <a:off x="320040" y="3840480"/>
            <a:ext cx="8503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C3557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1–2 Strong MOAT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Shape 6"/>
          <p:cNvSpPr/>
          <p:nvPr/>
        </p:nvSpPr>
        <p:spPr>
          <a:xfrm>
            <a:off x="320040" y="4160520"/>
            <a:ext cx="4206240" cy="804672"/>
          </a:xfrm>
          <a:prstGeom prst="rect">
            <a:avLst/>
          </a:prstGeom>
          <a:solidFill>
            <a:srgbClr val="F5F7FA"/>
          </a:solidFill>
          <a:ln w="12700">
            <a:solidFill>
              <a:srgbClr val="D1D9E6"/>
            </a:solidFill>
            <a:prstDash val="solid"/>
          </a:ln>
        </p:spPr>
        <p:txBody>
          <a:bodyPr/>
          <a:lstStyle/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 7"/>
          <p:cNvSpPr/>
          <p:nvPr/>
        </p:nvSpPr>
        <p:spPr>
          <a:xfrm>
            <a:off x="347133" y="4167802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2809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🔒  Privacy MOAT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ext 8"/>
          <p:cNvSpPr/>
          <p:nvPr/>
        </p:nvSpPr>
        <p:spPr>
          <a:xfrm>
            <a:off x="457200" y="4408086"/>
            <a:ext cx="3931920" cy="4389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2D3748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Everything runs on-device. No behaviour data ever leaves the phone. Unlike IFTTT/Google Assistant which send data to the cloud. In an era of data privacy concerns, this is a genuine differentiator.</a:t>
            </a:r>
            <a:endParaRPr lang="en-US" sz="10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Shape 9"/>
          <p:cNvSpPr/>
          <p:nvPr/>
        </p:nvSpPr>
        <p:spPr>
          <a:xfrm>
            <a:off x="4754880" y="4166109"/>
            <a:ext cx="4206240" cy="804672"/>
          </a:xfrm>
          <a:prstGeom prst="rect">
            <a:avLst/>
          </a:prstGeom>
          <a:solidFill>
            <a:srgbClr val="F5F7FA"/>
          </a:solidFill>
          <a:ln w="12700">
            <a:solidFill>
              <a:srgbClr val="D1D9E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Text 10"/>
          <p:cNvSpPr/>
          <p:nvPr/>
        </p:nvSpPr>
        <p:spPr>
          <a:xfrm>
            <a:off x="4754880" y="4166109"/>
            <a:ext cx="3931920" cy="256032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r>
              <a:rPr lang="en-US" sz="1200" b="1" dirty="0">
                <a:solidFill>
                  <a:srgbClr val="028090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🧠  Behavioral Learning MOAT</a:t>
            </a:r>
            <a:endParaRPr lang="en-US" sz="1200" dirty="0">
              <a:latin typeface="Times New Roman" panose="02020603050405020304" pitchFamily="18" charset="0"/>
              <a:ea typeface="Calibri"/>
              <a:cs typeface="Times New Roman" panose="02020603050405020304" pitchFamily="18" charset="0"/>
            </a:endParaRPr>
          </a:p>
        </p:txBody>
      </p:sp>
      <p:sp>
        <p:nvSpPr>
          <p:cNvPr id="14" name="Text 11"/>
          <p:cNvSpPr/>
          <p:nvPr/>
        </p:nvSpPr>
        <p:spPr>
          <a:xfrm>
            <a:off x="4892040" y="4422141"/>
            <a:ext cx="3931920" cy="4389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2D3748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The longer a user keeps the app, the better it gets. Competitors need manual rule updates; PhoneWhisperer self-improves by re-clustering as new patterns emerge. Data flywheel is entirely personal.</a:t>
            </a:r>
            <a:endParaRPr lang="en-US" sz="10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164592"/>
            <a:ext cx="502920" cy="201168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320040" y="164592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Idea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20040" y="457200"/>
            <a:ext cx="8503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C3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Link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20040" y="932688"/>
            <a:ext cx="2286000" cy="36576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Shape 4"/>
          <p:cNvSpPr/>
          <p:nvPr/>
        </p:nvSpPr>
        <p:spPr>
          <a:xfrm>
            <a:off x="320040" y="1188720"/>
            <a:ext cx="850392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9E6"/>
            </a:solidFill>
            <a:prstDash val="solid"/>
          </a:ln>
          <a:effectLst>
            <a:outerShdw blurRad="635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411480" y="1234440"/>
            <a:ext cx="5029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📂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1005840" y="1234440"/>
            <a:ext cx="3200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C3557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GitHub Repo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 7"/>
          <p:cNvSpPr/>
          <p:nvPr/>
        </p:nvSpPr>
        <p:spPr>
          <a:xfrm>
            <a:off x="1005840" y="1581912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200" u="sng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3"/>
              </a:rPr>
              <a:t>https://github.com/AbhiLight07/PhoneWhisperer.git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20040" y="2331720"/>
            <a:ext cx="850392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9E6"/>
            </a:solidFill>
            <a:prstDash val="solid"/>
          </a:ln>
          <a:effectLst>
            <a:outerShdw blurRad="635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411480" y="2377440"/>
            <a:ext cx="5029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🎬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1005840" y="2377440"/>
            <a:ext cx="3200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C3557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Demo Video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1005839" y="2724912"/>
            <a:ext cx="6140027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200" u="sng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4"/>
              </a:rPr>
              <a:t>https://youtu.be/8WLLRvkJbv4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320040" y="3474720"/>
            <a:ext cx="850392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9E6"/>
            </a:solidFill>
            <a:prstDash val="solid"/>
          </a:ln>
          <a:effectLst>
            <a:outerShdw blurRad="635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7" name="Text 15"/>
          <p:cNvSpPr/>
          <p:nvPr/>
        </p:nvSpPr>
        <p:spPr>
          <a:xfrm>
            <a:off x="411480" y="3520440"/>
            <a:ext cx="5029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📄</a:t>
            </a:r>
            <a:endParaRPr lang="en-US" sz="2800" dirty="0"/>
          </a:p>
        </p:txBody>
      </p:sp>
      <p:sp>
        <p:nvSpPr>
          <p:cNvPr id="18" name="Text 16"/>
          <p:cNvSpPr/>
          <p:nvPr/>
        </p:nvSpPr>
        <p:spPr>
          <a:xfrm>
            <a:off x="1005840" y="3520440"/>
            <a:ext cx="3200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C3557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Document Submitted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1005840" y="3867912"/>
            <a:ext cx="7132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200" dirty="0"/>
              <a:t>https://1drv.ms/w/c/4ef2be9b001db815/IQBEBry5gNIyRoTkVnAyoqwDAcI-lc54xH6SNmCSr2UWa6o?e=pusuYm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164592"/>
            <a:ext cx="502920" cy="201168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320040" y="164592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Idea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20040" y="457200"/>
            <a:ext cx="8503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C3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&lt;Brownie Slide&gt;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20040" y="932688"/>
            <a:ext cx="2286000" cy="36576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320040" y="1097280"/>
            <a:ext cx="8503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C3557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AI Disclosure + GitHub Checklist</a:t>
            </a:r>
            <a:endParaRPr lang="en-US" sz="1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Shape 5"/>
          <p:cNvSpPr/>
          <p:nvPr/>
        </p:nvSpPr>
        <p:spPr>
          <a:xfrm>
            <a:off x="320040" y="1463040"/>
            <a:ext cx="4206240" cy="3383280"/>
          </a:xfrm>
          <a:prstGeom prst="rect">
            <a:avLst/>
          </a:prstGeom>
          <a:solidFill>
            <a:srgbClr val="F5F7FA"/>
          </a:solidFill>
          <a:ln w="12700">
            <a:solidFill>
              <a:srgbClr val="D1D9E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457200" y="1554480"/>
            <a:ext cx="3931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2809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🤖  AI Disclosure</a:t>
            </a:r>
            <a:endParaRPr lang="en-US" sz="1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4663440" y="1463040"/>
            <a:ext cx="4206240" cy="3383280"/>
          </a:xfrm>
          <a:prstGeom prst="rect">
            <a:avLst/>
          </a:prstGeom>
          <a:solidFill>
            <a:srgbClr val="F5F7FA"/>
          </a:solidFill>
          <a:ln w="12700">
            <a:solidFill>
              <a:srgbClr val="D1D9E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4800600" y="1554480"/>
            <a:ext cx="3931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2809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✅  GitHub Submission Checklist</a:t>
            </a:r>
            <a:endParaRPr lang="en-US" sz="1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4800600" y="1920240"/>
            <a:ext cx="393192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2D3748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[ ] Project Video Demo (walkthrough + solution explanation)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2D3748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[ ] Complete Source Code (Kotlin, all modules)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2D3748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[ ] README.md (Problem, Solution, Setup, Usage instructions)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2D3748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[ ] AI Disclosure (how Gemma 2B + DBSCAN + Claude used)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2D3748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[ ] PPT (this file — in the required format)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2D3748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[ ] APK file (debug build for evaluation)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Text 7">
            <a:extLst>
              <a:ext uri="{FF2B5EF4-FFF2-40B4-BE49-F238E27FC236}">
                <a16:creationId xmlns:a16="http://schemas.microsoft.com/office/drawing/2014/main" id="{44B034E5-55E8-B28D-DCFC-3252057D2B3E}"/>
              </a:ext>
            </a:extLst>
          </p:cNvPr>
          <p:cNvSpPr/>
          <p:nvPr/>
        </p:nvSpPr>
        <p:spPr>
          <a:xfrm>
            <a:off x="453838" y="1918760"/>
            <a:ext cx="4116817" cy="274320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pPr marL="342900" indent="-342900">
              <a:buSzPct val="100000"/>
              <a:buChar char="•"/>
            </a:pPr>
            <a:r>
              <a:rPr lang="en-US" sz="1100" b="1" dirty="0">
                <a:solidFill>
                  <a:srgbClr val="2D3748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Gemma 2B (Google):</a:t>
            </a:r>
            <a:r>
              <a:rPr lang="en-US" sz="1100" dirty="0">
                <a:solidFill>
                  <a:srgbClr val="2D3748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 On-device LLM for converting DBSCAN cluster stats into plain-English automation rules</a:t>
            </a:r>
            <a:endParaRPr lang="en-US" sz="1100" dirty="0">
              <a:latin typeface="Times New Roman" panose="02020603050405020304" pitchFamily="18" charset="0"/>
              <a:ea typeface="Calibri"/>
              <a:cs typeface="Times New Roman" panose="02020603050405020304" pitchFamily="18" charset="0"/>
            </a:endParaRPr>
          </a:p>
          <a:p>
            <a:pPr marL="342900" indent="-342900">
              <a:buSzPct val="100000"/>
              <a:buFont typeface="Arial,Sans-Serif"/>
              <a:buChar char="•"/>
            </a:pPr>
            <a:r>
              <a:rPr lang="en-US" sz="1100" b="1" dirty="0">
                <a:solidFill>
                  <a:srgbClr val="2D3748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Android Studio: </a:t>
            </a:r>
            <a:r>
              <a:rPr lang="en-US" sz="1100" dirty="0">
                <a:solidFill>
                  <a:srgbClr val="2D3748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The core Integrated Development Environment (IDE) used for coding, compiling, and testing the Android application</a:t>
            </a:r>
            <a:endParaRPr lang="en-US" sz="1100" dirty="0">
              <a:solidFill>
                <a:srgbClr val="000000"/>
              </a:solidFill>
              <a:latin typeface="Times New Roman" panose="02020603050405020304" pitchFamily="18" charset="0"/>
              <a:ea typeface="Calibri"/>
              <a:cs typeface="Times New Roman" panose="02020603050405020304" pitchFamily="18" charset="0"/>
            </a:endParaRPr>
          </a:p>
          <a:p>
            <a:pPr marL="342900" indent="-342900">
              <a:buFont typeface="Arial,Sans-Serif"/>
              <a:buChar char="•"/>
            </a:pPr>
            <a:r>
              <a:rPr lang="en-US" sz="1100" b="1" dirty="0">
                <a:solidFill>
                  <a:srgbClr val="2D3748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Anti-Gravity:</a:t>
            </a:r>
            <a:r>
              <a:rPr lang="en-US" sz="1100" dirty="0">
                <a:solidFill>
                  <a:srgbClr val="2D3748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 Utilized alongside Android Studio during the development phase to streamline project workflow and implementation.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SzPct val="100000"/>
              <a:buChar char="•"/>
            </a:pPr>
            <a:r>
              <a:rPr lang="en-US" sz="1100" b="1" dirty="0">
                <a:solidFill>
                  <a:srgbClr val="2D3748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DBSCAN:</a:t>
            </a:r>
            <a:r>
              <a:rPr lang="en-US" sz="1100" dirty="0">
                <a:solidFill>
                  <a:srgbClr val="2D3748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 Custom Kotlin implementation for unsupervised clustering of GPS + time + app usage vectors</a:t>
            </a:r>
            <a:endParaRPr lang="en-US" sz="1100" dirty="0">
              <a:latin typeface="Times New Roman" panose="02020603050405020304" pitchFamily="18" charset="0"/>
              <a:ea typeface="Calibri"/>
              <a:cs typeface="Times New Roman" panose="02020603050405020304" pitchFamily="18" charset="0"/>
            </a:endParaRPr>
          </a:p>
          <a:p>
            <a:pPr marL="342900" indent="-342900">
              <a:buSzPct val="100000"/>
              <a:buChar char="•"/>
            </a:pPr>
            <a:r>
              <a:rPr lang="en-US" sz="1100" b="1" dirty="0">
                <a:solidFill>
                  <a:srgbClr val="2D3748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Claude AI (Anthropic):</a:t>
            </a:r>
            <a:r>
              <a:rPr lang="en-US" sz="1100" dirty="0">
                <a:solidFill>
                  <a:srgbClr val="2D3748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 Used during development for architecture brainstorming, code scaffolding &amp; debugging</a:t>
            </a:r>
            <a:endParaRPr lang="en-US" sz="1100" dirty="0">
              <a:latin typeface="Times New Roman" panose="02020603050405020304" pitchFamily="18" charset="0"/>
              <a:ea typeface="Calibri"/>
              <a:cs typeface="Times New Roman" panose="02020603050405020304" pitchFamily="18" charset="0"/>
            </a:endParaRPr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2D3748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No user data is sent to any external AI API — all inference runs on the user's device</a:t>
            </a:r>
          </a:p>
          <a:p>
            <a:pPr marL="342900" indent="-342900">
              <a:buSzPct val="100000"/>
              <a:buFont typeface="Arial"/>
              <a:buChar char="•"/>
            </a:pPr>
            <a:endParaRPr lang="en-US" sz="1100" dirty="0">
              <a:solidFill>
                <a:srgbClr val="2D3748"/>
              </a:solidFill>
              <a:latin typeface="Times New Roman" panose="02020603050405020304" pitchFamily="18" charset="0"/>
              <a:ea typeface="+mn-lt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150</TotalTime>
  <Words>1341</Words>
  <Application>Microsoft Office PowerPoint</Application>
  <PresentationFormat>On-screen Show (16:9)</PresentationFormat>
  <Paragraphs>181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6" baseType="lpstr">
      <vt:lpstr>Arial</vt:lpstr>
      <vt:lpstr>Arial Black</vt:lpstr>
      <vt:lpstr>Arial,Sans-Serif</vt:lpstr>
      <vt:lpstr>Calibri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PhoneWhisperer - CLASH OF THE CLAWS</dc:title>
  <dc:subject>PptxGenJS Presentation</dc:subject>
  <dc:creator>PptxGenJS</dc:creator>
  <cp:lastModifiedBy>Shiva Sony</cp:lastModifiedBy>
  <cp:revision>194</cp:revision>
  <dcterms:created xsi:type="dcterms:W3CDTF">2026-05-07T18:10:07Z</dcterms:created>
  <dcterms:modified xsi:type="dcterms:W3CDTF">2026-05-08T18:30:48Z</dcterms:modified>
</cp:coreProperties>
</file>